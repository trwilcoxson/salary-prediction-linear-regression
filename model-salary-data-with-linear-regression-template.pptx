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Roboto Mono Light"/>
      <p:regular r:id="rId12"/>
      <p:bold r:id="rId13"/>
      <p:italic r:id="rId14"/>
      <p:boldItalic r:id="rId15"/>
    </p:embeddedFont>
    <p:embeddedFont>
      <p:font typeface="Open Sans Light"/>
      <p:regular r:id="rId16"/>
      <p:bold r:id="rId17"/>
      <p:italic r:id="rId18"/>
      <p:boldItalic r:id="rId19"/>
    </p:embeddedFont>
    <p:embeddedFont>
      <p:font typeface="Ope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font" Target="fonts/RobotoMonoLight-regular.fntdata"/><Relationship Id="rId13" Type="http://schemas.openxmlformats.org/officeDocument/2006/relationships/font" Target="fonts/RobotoMonoLight-bold.fntdata"/><Relationship Id="rId14" Type="http://schemas.openxmlformats.org/officeDocument/2006/relationships/font" Target="fonts/RobotoMonoLight-italic.fntdata"/><Relationship Id="rId15" Type="http://schemas.openxmlformats.org/officeDocument/2006/relationships/font" Target="fonts/RobotoMonoLight-boldItalic.fntdata"/><Relationship Id="rId16" Type="http://schemas.openxmlformats.org/officeDocument/2006/relationships/font" Target="fonts/OpenSansLight-regular.fntdata"/><Relationship Id="rId17" Type="http://schemas.openxmlformats.org/officeDocument/2006/relationships/font" Target="fonts/OpenSansLight-bold.fntdata"/><Relationship Id="rId18" Type="http://schemas.openxmlformats.org/officeDocument/2006/relationships/font" Target="fonts/OpenSansLight-italic.fntdata"/><Relationship Id="rId19" Type="http://schemas.openxmlformats.org/officeDocument/2006/relationships/font" Target="fonts/OpenSansLight-boldItalic.fntdata"/><Relationship Id="rId20" Type="http://schemas.openxmlformats.org/officeDocument/2006/relationships/font" Target="fonts/OpenSans-regular.fntdata"/><Relationship Id="rId21" Type="http://schemas.openxmlformats.org/officeDocument/2006/relationships/font" Target="fonts/OpenSans-bold.fntdata"/><Relationship Id="rId22" Type="http://schemas.openxmlformats.org/officeDocument/2006/relationships/font" Target="fonts/OpenSans-italic.fntdata"/><Relationship Id="rId23" Type="http://schemas.openxmlformats.org/officeDocument/2006/relationships/font" Target="fonts/Open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05b2e72063_0_2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05b2e72063_0_2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13dd687b2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13dd687b2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13dd687b2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13dd687b2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201d5f8f2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201d5f8f2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201d5f8f2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201d5f8f2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a Lesson Title ">
  <p:cSld name="TITLE_1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-3409" l="0" r="0" t="3419"/>
          <a:stretch/>
        </p:blipFill>
        <p:spPr>
          <a:xfrm>
            <a:off x="1239650" y="1254250"/>
            <a:ext cx="2877300" cy="54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1225200" y="2813950"/>
            <a:ext cx="10070400" cy="247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Open Sans Light"/>
              <a:buNone/>
              <a:defRPr sz="9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1225200" y="5937550"/>
            <a:ext cx="10070400" cy="12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256200" y="5959675"/>
            <a:ext cx="10039800" cy="8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grpSp>
        <p:nvGrpSpPr>
          <p:cNvPr id="15" name="Google Shape;15;p2"/>
          <p:cNvGrpSpPr/>
          <p:nvPr/>
        </p:nvGrpSpPr>
        <p:grpSpPr>
          <a:xfrm>
            <a:off x="1232067" y="1034380"/>
            <a:ext cx="3497101" cy="986219"/>
            <a:chOff x="989538" y="1051025"/>
            <a:chExt cx="3377536" cy="952500"/>
          </a:xfrm>
        </p:grpSpPr>
        <p:pic>
          <p:nvPicPr>
            <p:cNvPr id="16" name="Google Shape;16;p2"/>
            <p:cNvPicPr preferRelativeResize="0"/>
            <p:nvPr/>
          </p:nvPicPr>
          <p:blipFill rotWithShape="1">
            <a:blip r:embed="rId2">
              <a:alphaModFix/>
            </a:blip>
            <a:srcRect b="-3409" l="0" r="0" t="3419"/>
            <a:stretch/>
          </p:blipFill>
          <p:spPr>
            <a:xfrm>
              <a:off x="1239650" y="1254250"/>
              <a:ext cx="2877300" cy="546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2"/>
            <p:cNvSpPr/>
            <p:nvPr/>
          </p:nvSpPr>
          <p:spPr>
            <a:xfrm>
              <a:off x="995600" y="1051025"/>
              <a:ext cx="3365400" cy="952500"/>
            </a:xfrm>
            <a:prstGeom prst="rect">
              <a:avLst/>
            </a:prstGeom>
            <a:solidFill>
              <a:srgbClr val="171A53"/>
            </a:solidFill>
            <a:ln cap="flat" cmpd="sng" w="9525">
              <a:solidFill>
                <a:srgbClr val="171A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171A5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8" name="Google Shape;18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89538" y="1058076"/>
              <a:ext cx="3377536" cy="938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Google Shape;19;p2"/>
          <p:cNvSpPr txBox="1"/>
          <p:nvPr/>
        </p:nvSpPr>
        <p:spPr>
          <a:xfrm>
            <a:off x="279350" y="9860050"/>
            <a:ext cx="79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2024 Udacity. </a:t>
            </a:r>
            <a:endParaRPr sz="1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b Lesson Title (Designer or Producer Only)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0"/>
            <a:ext cx="18288000" cy="102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/>
          <p:nvPr>
            <p:ph type="title"/>
          </p:nvPr>
        </p:nvSpPr>
        <p:spPr>
          <a:xfrm>
            <a:off x="1225200" y="3735300"/>
            <a:ext cx="15837600" cy="281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600"/>
              <a:buFont typeface="Open Sans Light"/>
              <a:buNone/>
              <a:defRPr sz="7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23" name="Google Shape;23;p3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a Full Bullet">
  <p:cSld name="TITLE_AND_BODY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" name="Google Shape;30;p4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760">
          <p15:clr>
            <a:schemeClr val="accent1"/>
          </p15:clr>
        </p15:guide>
        <p15:guide id="5" orient="horz" pos="936">
          <p15:clr>
            <a:schemeClr val="accent1"/>
          </p15:clr>
        </p15:guide>
        <p15:guide id="6" orient="horz" pos="5328">
          <p15:clr>
            <a:schemeClr val="accent1"/>
          </p15:clr>
        </p15:guide>
        <p15:guide id="7" orient="horz" pos="1152">
          <p15:clr>
            <a:schemeClr val="accent1"/>
          </p15:clr>
        </p15:guide>
        <p15:guide id="8" pos="5760">
          <p15:clr>
            <a:srgbClr val="E46962"/>
          </p15:clr>
        </p15:guide>
        <p15:guide id="9" orient="horz" pos="3132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g Full Graphic">
  <p:cSld name="TITLE_ONLY_1_1_1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300" y="0"/>
            <a:ext cx="18288000" cy="113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 txBox="1"/>
          <p:nvPr>
            <p:ph type="title"/>
          </p:nvPr>
        </p:nvSpPr>
        <p:spPr>
          <a:xfrm>
            <a:off x="685800" y="0"/>
            <a:ext cx="16916400" cy="11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pen Sans Light"/>
              <a:buNone/>
              <a:defRPr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7750" y="9434275"/>
            <a:ext cx="2619803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5760">
          <p15:clr>
            <a:schemeClr val="accent1"/>
          </p15:clr>
        </p15:guide>
        <p15:guide id="4" orient="horz" pos="717">
          <p15:clr>
            <a:schemeClr val="accent1"/>
          </p15:clr>
        </p15:guide>
        <p15:guide id="5" pos="5760">
          <p15:clr>
            <a:srgbClr val="E46962"/>
          </p15:clr>
        </p15:guide>
        <p15:guide id="6" orient="horz" pos="3240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b Third Card">
  <p:cSld name="TITLE_AND_BODY_1_1_1_3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9" name="Google Shape;3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11623800" y="684300"/>
            <a:ext cx="5978400" cy="7774200"/>
          </a:xfrm>
          <a:prstGeom prst="round1Rect">
            <a:avLst>
              <a:gd fmla="val 28421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6"/>
          <p:cNvSpPr txBox="1"/>
          <p:nvPr/>
        </p:nvSpPr>
        <p:spPr>
          <a:xfrm>
            <a:off x="12058350" y="1523388"/>
            <a:ext cx="39150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t/>
            </a:r>
            <a:endParaRPr b="1" sz="26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12058350" y="2629500"/>
            <a:ext cx="5109600" cy="53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2" type="subTitle"/>
          </p:nvPr>
        </p:nvSpPr>
        <p:spPr>
          <a:xfrm>
            <a:off x="12058350" y="1120500"/>
            <a:ext cx="4868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685800" y="307975"/>
            <a:ext cx="102522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3" type="body"/>
          </p:nvPr>
        </p:nvSpPr>
        <p:spPr>
          <a:xfrm>
            <a:off x="685825" y="1828800"/>
            <a:ext cx="102522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760">
          <p15:clr>
            <a:schemeClr val="accent1"/>
          </p15:clr>
        </p15:guide>
        <p15:guide id="5" orient="horz" pos="5328">
          <p15:clr>
            <a:schemeClr val="accent1"/>
          </p15:clr>
        </p15:guide>
        <p15:guide id="6" pos="10814">
          <p15:clr>
            <a:schemeClr val="accent1"/>
          </p15:clr>
        </p15:guide>
        <p15:guide id="7" pos="7596">
          <p15:clr>
            <a:schemeClr val="accent1"/>
          </p15:clr>
        </p15:guide>
        <p15:guide id="8" orient="horz" pos="5054">
          <p15:clr>
            <a:schemeClr val="accent2"/>
          </p15:clr>
        </p15:guide>
        <p15:guide id="9" pos="6890">
          <p15:clr>
            <a:schemeClr val="accent1"/>
          </p15:clr>
        </p15:guide>
        <p15:guide id="10" pos="7322">
          <p15:clr>
            <a:schemeClr val="accent1"/>
          </p15:clr>
        </p15:guide>
        <p15:guide id="11" orient="horz" pos="1152">
          <p15:clr>
            <a:schemeClr val="accent2"/>
          </p15:clr>
        </p15:guide>
        <p15:guide id="12" orient="horz" pos="939">
          <p15:clr>
            <a:schemeClr val="accent1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c Half Card">
  <p:cSld name="TITLE_AND_BODY_1_1_1_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0" name="Google Shape;5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>
            <a:off x="9829800" y="684300"/>
            <a:ext cx="7772400" cy="77742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10264500" y="2194800"/>
            <a:ext cx="6903000" cy="58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2" type="subTitle"/>
          </p:nvPr>
        </p:nvSpPr>
        <p:spPr>
          <a:xfrm>
            <a:off x="10264500" y="1120500"/>
            <a:ext cx="6662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685800" y="307975"/>
            <a:ext cx="95790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3" type="body"/>
          </p:nvPr>
        </p:nvSpPr>
        <p:spPr>
          <a:xfrm>
            <a:off x="685825" y="1828800"/>
            <a:ext cx="102522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10814">
          <p15:clr>
            <a:schemeClr val="accent1"/>
          </p15:clr>
        </p15:guide>
        <p15:guide id="6" pos="6466">
          <p15:clr>
            <a:schemeClr val="accent1"/>
          </p15:clr>
        </p15:guide>
        <p15:guide id="7" orient="horz" pos="5054">
          <p15:clr>
            <a:schemeClr val="accent2"/>
          </p15:clr>
        </p15:guide>
        <p15:guide id="8" pos="5760">
          <p15:clr>
            <a:schemeClr val="accent1"/>
          </p15:clr>
        </p15:guide>
        <p15:guide id="9" pos="6192">
          <p15:clr>
            <a:schemeClr val="accent1"/>
          </p15:clr>
        </p15:guide>
        <p15:guide id="10" orient="horz" pos="1152">
          <p15:clr>
            <a:schemeClr val="accent2"/>
          </p15:clr>
        </p15:guide>
        <p15:guide id="11" orient="horz" pos="939">
          <p15:clr>
            <a:schemeClr val="accent1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e Dual Card">
  <p:cSld name="CUSTOM_1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8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8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8"/>
          <p:cNvSpPr/>
          <p:nvPr/>
        </p:nvSpPr>
        <p:spPr>
          <a:xfrm>
            <a:off x="9487100" y="684300"/>
            <a:ext cx="8115000" cy="77742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8"/>
          <p:cNvSpPr/>
          <p:nvPr/>
        </p:nvSpPr>
        <p:spPr>
          <a:xfrm flipH="1" rot="-5400000">
            <a:off x="846450" y="495600"/>
            <a:ext cx="7786200" cy="81378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8"/>
          <p:cNvSpPr txBox="1"/>
          <p:nvPr>
            <p:ph idx="1" type="body"/>
          </p:nvPr>
        </p:nvSpPr>
        <p:spPr>
          <a:xfrm>
            <a:off x="1120500" y="1935300"/>
            <a:ext cx="7245600" cy="60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2" type="subTitle"/>
          </p:nvPr>
        </p:nvSpPr>
        <p:spPr>
          <a:xfrm>
            <a:off x="1120500" y="1007100"/>
            <a:ext cx="7245600" cy="6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66" name="Google Shape;66;p8"/>
          <p:cNvSpPr txBox="1"/>
          <p:nvPr>
            <p:ph idx="3" type="body"/>
          </p:nvPr>
        </p:nvSpPr>
        <p:spPr>
          <a:xfrm>
            <a:off x="9921800" y="1935300"/>
            <a:ext cx="7245600" cy="60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idx="4" type="subTitle"/>
          </p:nvPr>
        </p:nvSpPr>
        <p:spPr>
          <a:xfrm>
            <a:off x="9921800" y="1007100"/>
            <a:ext cx="7245600" cy="6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80">
          <p15:clr>
            <a:srgbClr val="FF0000"/>
          </p15:clr>
        </p15:guide>
        <p15:guide id="2" pos="5760">
          <p15:clr>
            <a:srgbClr val="FF0000"/>
          </p15:clr>
        </p15:guide>
        <p15:guide id="3" pos="423">
          <p15:clr>
            <a:schemeClr val="accent1"/>
          </p15:clr>
        </p15:guide>
        <p15:guide id="4" orient="horz" pos="423">
          <p15:clr>
            <a:schemeClr val="accent1"/>
          </p15:clr>
        </p15:guide>
        <p15:guide id="5" pos="5553">
          <p15:clr>
            <a:schemeClr val="accent1"/>
          </p15:clr>
        </p15:guide>
        <p15:guide id="6" pos="5976">
          <p15:clr>
            <a:schemeClr val="accent1"/>
          </p15:clr>
        </p15:guide>
        <p15:guide id="7" orient="horz" pos="5328">
          <p15:clr>
            <a:schemeClr val="accent1"/>
          </p15:clr>
        </p15:guide>
        <p15:guide id="8" pos="11088">
          <p15:clr>
            <a:schemeClr val="accent1"/>
          </p15:clr>
        </p15:guide>
        <p15:guide id="9" pos="706">
          <p15:clr>
            <a:schemeClr val="accent1"/>
          </p15:clr>
        </p15:guide>
        <p15:guide id="10" pos="5275">
          <p15:clr>
            <a:schemeClr val="accent1"/>
          </p15:clr>
        </p15:guide>
        <p15:guide id="11" pos="6250">
          <p15:clr>
            <a:schemeClr val="accent1"/>
          </p15:clr>
        </p15:guide>
        <p15:guide id="12" pos="10814">
          <p15:clr>
            <a:schemeClr val="accent1"/>
          </p15:clr>
        </p15:guide>
        <p15:guide id="13" orient="horz" pos="1219">
          <p15:clr>
            <a:schemeClr val="accent2"/>
          </p15:clr>
        </p15:guide>
        <p15:guide id="14" orient="horz" pos="5054">
          <p15:clr>
            <a:schemeClr val="accent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f Triple Card ">
  <p:cSld name="CUSTOM_1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9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1" name="Google Shape;7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9"/>
          <p:cNvSpPr/>
          <p:nvPr/>
        </p:nvSpPr>
        <p:spPr>
          <a:xfrm>
            <a:off x="6547175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685800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9"/>
          <p:cNvSpPr/>
          <p:nvPr/>
        </p:nvSpPr>
        <p:spPr>
          <a:xfrm>
            <a:off x="12408550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9"/>
          <p:cNvSpPr txBox="1"/>
          <p:nvPr>
            <p:ph idx="1" type="body"/>
          </p:nvPr>
        </p:nvSpPr>
        <p:spPr>
          <a:xfrm>
            <a:off x="1120500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9"/>
          <p:cNvSpPr txBox="1"/>
          <p:nvPr>
            <p:ph idx="2" type="subTitle"/>
          </p:nvPr>
        </p:nvSpPr>
        <p:spPr>
          <a:xfrm>
            <a:off x="1134750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78" name="Google Shape;78;p9"/>
          <p:cNvSpPr txBox="1"/>
          <p:nvPr>
            <p:ph idx="3" type="body"/>
          </p:nvPr>
        </p:nvSpPr>
        <p:spPr>
          <a:xfrm>
            <a:off x="6981875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4" type="subTitle"/>
          </p:nvPr>
        </p:nvSpPr>
        <p:spPr>
          <a:xfrm>
            <a:off x="6996125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80" name="Google Shape;80;p9"/>
          <p:cNvSpPr txBox="1"/>
          <p:nvPr>
            <p:ph idx="5" type="body"/>
          </p:nvPr>
        </p:nvSpPr>
        <p:spPr>
          <a:xfrm>
            <a:off x="12843250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idx="6" type="subTitle"/>
          </p:nvPr>
        </p:nvSpPr>
        <p:spPr>
          <a:xfrm>
            <a:off x="12857500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82" name="Google Shape;82;p9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355">
          <p15:clr>
            <a:srgbClr val="FF0000"/>
          </p15:clr>
        </p15:guide>
        <p15:guide id="2" pos="4124">
          <p15:clr>
            <a:schemeClr val="accent1"/>
          </p15:clr>
        </p15:guide>
        <p15:guide id="3" pos="423">
          <p15:clr>
            <a:schemeClr val="accent1"/>
          </p15:clr>
        </p15:guide>
        <p15:guide id="4" orient="horz" pos="423">
          <p15:clr>
            <a:schemeClr val="accent1"/>
          </p15:clr>
        </p15:guide>
        <p15:guide id="5" pos="3703">
          <p15:clr>
            <a:schemeClr val="accent1"/>
          </p15:clr>
        </p15:guide>
        <p15:guide id="6" pos="7396">
          <p15:clr>
            <a:schemeClr val="accent1"/>
          </p15:clr>
        </p15:guide>
        <p15:guide id="7" orient="horz" pos="5328">
          <p15:clr>
            <a:schemeClr val="accent1"/>
          </p15:clr>
        </p15:guide>
        <p15:guide id="8" pos="11088">
          <p15:clr>
            <a:schemeClr val="accent1"/>
          </p15:clr>
        </p15:guide>
        <p15:guide id="9" orient="horz" pos="1219">
          <p15:clr>
            <a:schemeClr val="accent1"/>
          </p15:clr>
        </p15:guide>
        <p15:guide id="10" pos="7816">
          <p15:clr>
            <a:schemeClr val="accent1"/>
          </p15:clr>
        </p15:guide>
        <p15:guide id="11" orient="horz" pos="939">
          <p15:clr>
            <a:schemeClr val="accent1"/>
          </p15:clr>
        </p15:guide>
        <p15:guide id="12" pos="2068">
          <p15:clr>
            <a:srgbClr val="E46962"/>
          </p15:clr>
        </p15:guide>
        <p15:guide id="13" pos="5760">
          <p15:clr>
            <a:srgbClr val="E46962"/>
          </p15:clr>
        </p15:guide>
        <p15:guide id="14" pos="9452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Code">
  <p:cSld name="TITLE_AND_BODY_1_1_1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6" name="Google Shape;8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0"/>
          <p:cNvSpPr/>
          <p:nvPr/>
        </p:nvSpPr>
        <p:spPr>
          <a:xfrm>
            <a:off x="-250" y="-750"/>
            <a:ext cx="18288000" cy="9144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0"/>
          <p:cNvSpPr txBox="1"/>
          <p:nvPr/>
        </p:nvSpPr>
        <p:spPr>
          <a:xfrm>
            <a:off x="685800" y="434400"/>
            <a:ext cx="1691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" sz="4800">
                <a:solidFill>
                  <a:srgbClr val="0B0B0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Title Placeholder</a:t>
            </a:r>
            <a:endParaRPr sz="4800">
              <a:solidFill>
                <a:srgbClr val="0B0B0B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89" name="Google Shape;89;p10"/>
          <p:cNvSpPr txBox="1"/>
          <p:nvPr>
            <p:ph idx="1" type="body"/>
          </p:nvPr>
        </p:nvSpPr>
        <p:spPr>
          <a:xfrm>
            <a:off x="685800" y="1554750"/>
            <a:ext cx="169164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979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5760">
          <p15:clr>
            <a:srgbClr val="FF0000"/>
          </p15:clr>
        </p15:guide>
        <p15:guide id="6" orient="horz" pos="706">
          <p15:clr>
            <a:schemeClr val="accent1"/>
          </p15:clr>
        </p15:guide>
        <p15:guide id="7" orient="horz" pos="274">
          <p15:clr>
            <a:schemeClr val="accent1"/>
          </p15:clr>
        </p15:guide>
        <p15:guide id="8" orient="horz" pos="3154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Dual Code">
  <p:cSld name="TITLE_AND_BODY_1_1_1_1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3" name="Google Shape;9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1"/>
          <p:cNvSpPr/>
          <p:nvPr/>
        </p:nvSpPr>
        <p:spPr>
          <a:xfrm>
            <a:off x="-250" y="-750"/>
            <a:ext cx="18288000" cy="9144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1"/>
          <p:cNvSpPr txBox="1"/>
          <p:nvPr/>
        </p:nvSpPr>
        <p:spPr>
          <a:xfrm>
            <a:off x="685800" y="434400"/>
            <a:ext cx="1691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" sz="4800">
                <a:solidFill>
                  <a:srgbClr val="0B0B0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Title Placeholder</a:t>
            </a:r>
            <a:endParaRPr sz="4800">
              <a:solidFill>
                <a:srgbClr val="0B0B0B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96" name="Google Shape;96;p11"/>
          <p:cNvSpPr txBox="1"/>
          <p:nvPr>
            <p:ph idx="1" type="body"/>
          </p:nvPr>
        </p:nvSpPr>
        <p:spPr>
          <a:xfrm>
            <a:off x="685800" y="1554750"/>
            <a:ext cx="82410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9361350" y="1554750"/>
            <a:ext cx="82410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979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5760">
          <p15:clr>
            <a:srgbClr val="FF0000"/>
          </p15:clr>
        </p15:guide>
        <p15:guide id="6" orient="horz" pos="706">
          <p15:clr>
            <a:schemeClr val="accent1"/>
          </p15:clr>
        </p15:guide>
        <p15:guide id="7" orient="horz" pos="274">
          <p15:clr>
            <a:schemeClr val="accent1"/>
          </p15:clr>
        </p15:guide>
        <p15:guide id="8" pos="5623">
          <p15:clr>
            <a:schemeClr val="accent1"/>
          </p15:clr>
        </p15:guide>
        <p15:guide id="9" pos="5897">
          <p15:clr>
            <a:schemeClr val="accent1"/>
          </p15:clr>
        </p15:guide>
        <p15:guide id="10" orient="horz" pos="3240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 Quote Full Card">
  <p:cSld name="CUSTOM_14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2"/>
          <p:cNvSpPr/>
          <p:nvPr/>
        </p:nvSpPr>
        <p:spPr>
          <a:xfrm flipH="1">
            <a:off x="1285650" y="1009650"/>
            <a:ext cx="15717000" cy="8268000"/>
          </a:xfrm>
          <a:prstGeom prst="round2DiagRect">
            <a:avLst>
              <a:gd fmla="val 20143" name="adj1"/>
              <a:gd fmla="val 0" name="adj2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2"/>
          <p:cNvSpPr txBox="1"/>
          <p:nvPr>
            <p:ph idx="1" type="body"/>
          </p:nvPr>
        </p:nvSpPr>
        <p:spPr>
          <a:xfrm>
            <a:off x="2110650" y="1908000"/>
            <a:ext cx="14067000" cy="6471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533400" lvl="0" marL="4572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533400" lvl="1" marL="9144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533400" lvl="2" marL="13716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533400" lvl="3" marL="18288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533400" lvl="4" marL="22860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533400" lvl="5" marL="27432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-533400" lvl="6" marL="32004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-533400" lvl="7" marL="36576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-533400" lvl="8" marL="41148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225200" y="1210250"/>
            <a:ext cx="158376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 Light"/>
              <a:buNone/>
              <a:defRPr sz="5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225200" y="3107750"/>
            <a:ext cx="15837600" cy="60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Char char="●"/>
              <a:defRPr sz="3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419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○"/>
              <a:defRPr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810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810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810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810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810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810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810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 algn="r">
              <a:buNone/>
              <a:defRPr sz="2000">
                <a:solidFill>
                  <a:schemeClr val="dk2"/>
                </a:solidFill>
              </a:defRPr>
            </a:lvl1pPr>
            <a:lvl2pPr lvl="1" rtl="0" algn="r">
              <a:buNone/>
              <a:defRPr sz="2000">
                <a:solidFill>
                  <a:schemeClr val="dk2"/>
                </a:solidFill>
              </a:defRPr>
            </a:lvl2pPr>
            <a:lvl3pPr lvl="2" rtl="0" algn="r">
              <a:buNone/>
              <a:defRPr sz="2000">
                <a:solidFill>
                  <a:schemeClr val="dk2"/>
                </a:solidFill>
              </a:defRPr>
            </a:lvl3pPr>
            <a:lvl4pPr lvl="3" rtl="0" algn="r">
              <a:buNone/>
              <a:defRPr sz="2000">
                <a:solidFill>
                  <a:schemeClr val="dk2"/>
                </a:solidFill>
              </a:defRPr>
            </a:lvl4pPr>
            <a:lvl5pPr lvl="4" rtl="0" algn="r">
              <a:buNone/>
              <a:defRPr sz="2000">
                <a:solidFill>
                  <a:schemeClr val="dk2"/>
                </a:solidFill>
              </a:defRPr>
            </a:lvl5pPr>
            <a:lvl6pPr lvl="5" rtl="0" algn="r">
              <a:buNone/>
              <a:defRPr sz="2000">
                <a:solidFill>
                  <a:schemeClr val="dk2"/>
                </a:solidFill>
              </a:defRPr>
            </a:lvl6pPr>
            <a:lvl7pPr lvl="6" rtl="0" algn="r">
              <a:buNone/>
              <a:defRPr sz="2000">
                <a:solidFill>
                  <a:schemeClr val="dk2"/>
                </a:solidFill>
              </a:defRPr>
            </a:lvl7pPr>
            <a:lvl8pPr lvl="7" rtl="0" algn="r">
              <a:buNone/>
              <a:defRPr sz="2000">
                <a:solidFill>
                  <a:schemeClr val="dk2"/>
                </a:solidFill>
              </a:defRPr>
            </a:lvl8pPr>
            <a:lvl9pPr lvl="8" rtl="0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/>
          <p:nvPr/>
        </p:nvSpPr>
        <p:spPr>
          <a:xfrm>
            <a:off x="279350" y="9860050"/>
            <a:ext cx="79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2024 Udacity. </a:t>
            </a:r>
            <a:endParaRPr sz="1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3"/>
          <p:cNvSpPr txBox="1"/>
          <p:nvPr>
            <p:ph type="ctrTitle"/>
          </p:nvPr>
        </p:nvSpPr>
        <p:spPr>
          <a:xfrm>
            <a:off x="1225200" y="2813950"/>
            <a:ext cx="10070400" cy="41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"/>
              <a:t>Analysis of Salary Data</a:t>
            </a:r>
            <a:endParaRPr sz="1000"/>
          </a:p>
        </p:txBody>
      </p:sp>
      <p:sp>
        <p:nvSpPr>
          <p:cNvPr id="108" name="Google Shape;108;p13"/>
          <p:cNvSpPr txBox="1"/>
          <p:nvPr>
            <p:ph idx="1" type="subTitle"/>
          </p:nvPr>
        </p:nvSpPr>
        <p:spPr>
          <a:xfrm>
            <a:off x="1256200" y="7559875"/>
            <a:ext cx="100398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rPr b="1" lang="en"/>
              <a:t>Data Scientist: Student</a:t>
            </a:r>
            <a:endParaRPr b="1"/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Agenda</a:t>
            </a:r>
            <a:endParaRPr sz="6400"/>
          </a:p>
        </p:txBody>
      </p:sp>
      <p:sp>
        <p:nvSpPr>
          <p:cNvPr id="124" name="Google Shape;124;p15"/>
          <p:cNvSpPr txBox="1"/>
          <p:nvPr>
            <p:ph idx="1" type="body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Findings of</a:t>
            </a:r>
            <a:r>
              <a:rPr lang="en">
                <a:solidFill>
                  <a:schemeClr val="accent1"/>
                </a:solidFill>
              </a:rPr>
              <a:t> linear regression modeling with tech salary data</a:t>
            </a:r>
            <a:endParaRPr sz="3000">
              <a:solidFill>
                <a:srgbClr val="2D3D4A"/>
              </a:solidFill>
            </a:endParaRPr>
          </a:p>
          <a:p>
            <a:pPr indent="-72390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/>
              <a:t>Data Description</a:t>
            </a:r>
            <a:endParaRPr sz="4200"/>
          </a:p>
          <a:p>
            <a:pPr indent="-723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/>
              <a:t>Regression Results</a:t>
            </a:r>
            <a:endParaRPr sz="4200"/>
          </a:p>
          <a:p>
            <a:pPr indent="-723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/>
              <a:t>Interpretation and Next Steps</a:t>
            </a:r>
            <a:endParaRPr sz="42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D3D4A"/>
              </a:solidFill>
            </a:endParaRPr>
          </a:p>
          <a:p>
            <a:pPr indent="0" lvl="0" marL="228600" rtl="0" algn="l">
              <a:lnSpc>
                <a:spcPct val="115000"/>
              </a:lnSpc>
              <a:spcBef>
                <a:spcPts val="1400"/>
              </a:spcBef>
              <a:spcAft>
                <a:spcPts val="200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Data Description</a:t>
            </a:r>
            <a:endParaRPr sz="6400"/>
          </a:p>
        </p:txBody>
      </p:sp>
      <p:sp>
        <p:nvSpPr>
          <p:cNvPr id="130" name="Google Shape;130;p16"/>
          <p:cNvSpPr txBox="1"/>
          <p:nvPr>
            <p:ph idx="1" type="body"/>
          </p:nvPr>
        </p:nvSpPr>
        <p:spPr>
          <a:xfrm>
            <a:off x="685850" y="1828800"/>
            <a:ext cx="16393800" cy="691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sz="1400">
                <a:solidFill>
                  <a:srgbClr val="000000"/>
                </a:solidFill>
              </a:rPr>
              <a:t>The dataset contains 375 employee records with 6 features: Age, Gender, Education Level, Job Title, Years of Experience, and Salary.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/>
          </a:p>
          <a:p>
            <a:pPr indent="0" lvl="0" marL="228600" rtl="0" algn="l">
              <a:lnSpc>
                <a:spcPct val="115000"/>
              </a:lnSpc>
              <a:spcBef>
                <a:spcPts val="1400"/>
              </a:spcBef>
              <a:spcAft>
                <a:spcPts val="2000"/>
              </a:spcAft>
              <a:buNone/>
            </a:pPr>
            <a:endParaRPr sz="3000">
              <a:solidFill>
                <a:srgbClr val="000000"/>
              </a:solidFill>
            </a:endParaRPr>
          </a:p>
          <a:p/>
          <a:p>
            <a:r>
              <a:rPr sz="1400">
                <a:solidFill>
                  <a:srgbClr val="000000"/>
                </a:solidFill>
              </a:rPr>
              <a:t>Missing Data: 2 rows had entirely missing values and were dropped. 1 row had an anomalous salary of $350 (likely a data entry error) and was removed. Final clean dataset: 372 employees.</a:t>
            </a:r>
          </a:p>
          <a:p/>
          <a:p>
            <a:r>
              <a:rPr sz="1400">
                <a:solidFill>
                  <a:srgbClr val="000000"/>
                </a:solidFill>
              </a:rPr>
              <a:t>Salary Range: $30,000 to $250,000, with a mean of $100,847 and median of $95,000.</a:t>
            </a:r>
          </a:p>
          <a:p/>
          <a:p>
            <a:r>
              <a:rPr sz="1400">
                <a:solidFill>
                  <a:srgbClr val="000000"/>
                </a:solidFill>
              </a:rPr>
              <a:t>Education: 223 Bachelor's, 98 Master's, 51 PhD holders.</a:t>
            </a:r>
          </a:p>
          <a:p/>
          <a:p>
            <a:r>
              <a:rPr sz="1400">
                <a:solidFill>
                  <a:srgbClr val="000000"/>
                </a:solidFill>
              </a:rPr>
              <a:t>Key correlations with salary:</a:t>
            </a:r>
          </a:p>
          <a:p>
            <a:r>
              <a:rPr sz="1400">
                <a:solidFill>
                  <a:srgbClr val="000000"/>
                </a:solidFill>
              </a:rPr>
              <a:t>  - Years of Experience: strong positive correlation (r = 0.92)</a:t>
            </a:r>
          </a:p>
          <a:p>
            <a:r>
              <a:rPr sz="1400">
                <a:solidFill>
                  <a:srgbClr val="000000"/>
                </a:solidFill>
              </a:rPr>
              <a:t>  - Education Level: PhD ($143K avg) &gt; Master's ($108K avg) &gt; Bachelor's ($87K avg)</a:t>
            </a:r>
          </a:p>
          <a:p>
            <a:r>
              <a:rPr sz="1400">
                <a:solidFill>
                  <a:srgbClr val="000000"/>
                </a:solidFill>
              </a:rPr>
              <a:t>  - Gender: Males ($108K avg) earn more than Females ($93K avg)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Regression Results</a:t>
            </a:r>
            <a:endParaRPr sz="6400"/>
          </a:p>
        </p:txBody>
      </p:sp>
      <p:sp>
        <p:nvSpPr>
          <p:cNvPr id="136" name="Google Shape;136;p17"/>
          <p:cNvSpPr txBox="1"/>
          <p:nvPr>
            <p:ph idx="1" type="body"/>
          </p:nvPr>
        </p:nvSpPr>
        <p:spPr>
          <a:xfrm>
            <a:off x="685850" y="1828800"/>
            <a:ext cx="16393800" cy="691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sz="1300">
                <a:solidFill>
                  <a:srgbClr val="000000"/>
                </a:solidFill>
              </a:rPr>
              <a:t>Full Model: OLS regression with 10 features predicting Salary.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/>
          </a:p>
          <a:p>
            <a:pPr indent="0" lvl="0" marL="228600" rtl="0" algn="l">
              <a:lnSpc>
                <a:spcPct val="115000"/>
              </a:lnSpc>
              <a:spcBef>
                <a:spcPts val="1400"/>
              </a:spcBef>
              <a:spcAft>
                <a:spcPts val="2000"/>
              </a:spcAft>
              <a:buNone/>
            </a:pPr>
            <a:endParaRPr sz="3000">
              <a:solidFill>
                <a:srgbClr val="000000"/>
              </a:solidFill>
            </a:endParaRPr>
          </a:p>
          <a:p>
            <a:r>
              <a:rPr sz="1300">
                <a:solidFill>
                  <a:srgbClr val="000000"/>
                </a:solidFill>
              </a:rPr>
              <a:t>R-squared: 0.917 (91.7% of salary variance explained)</a:t>
            </a:r>
          </a:p>
          <a:p/>
          <a:p>
            <a:r>
              <a:rPr sz="1300">
                <a:solidFill>
                  <a:srgbClr val="000000"/>
                </a:solidFill>
              </a:rPr>
              <a:t>Significant variables (p &lt; 0.05) in reduced model:</a:t>
            </a:r>
          </a:p>
          <a:p>
            <a:r>
              <a:rPr sz="1300">
                <a:solidFill>
                  <a:srgbClr val="000000"/>
                </a:solidFill>
              </a:rPr>
              <a:t>  - Years of Experience: +$5,081 per year (p &lt; 0.001)</a:t>
            </a:r>
          </a:p>
          <a:p>
            <a:r>
              <a:rPr sz="1300">
                <a:solidFill>
                  <a:srgbClr val="000000"/>
                </a:solidFill>
              </a:rPr>
              <a:t>  - is_director: +$25,050 (p &lt; 0.001)</a:t>
            </a:r>
          </a:p>
          <a:p>
            <a:r>
              <a:rPr sz="1300">
                <a:solidFill>
                  <a:srgbClr val="000000"/>
                </a:solidFill>
              </a:rPr>
              <a:t>  - is_senior: +$14,350 (p &lt; 0.001)</a:t>
            </a:r>
          </a:p>
          <a:p>
            <a:r>
              <a:rPr sz="1300">
                <a:solidFill>
                  <a:srgbClr val="000000"/>
                </a:solidFill>
              </a:rPr>
              <a:t>  - is_manager: +$4,175 (p = 0.021)</a:t>
            </a:r>
          </a:p>
          <a:p>
            <a:r>
              <a:rPr sz="1300">
                <a:solidFill>
                  <a:srgbClr val="000000"/>
                </a:solidFill>
              </a:rPr>
              <a:t>  - is_male: +$7,849 (p &lt; 0.001)</a:t>
            </a:r>
          </a:p>
          <a:p>
            <a:r>
              <a:rPr sz="1300">
                <a:solidFill>
                  <a:srgbClr val="000000"/>
                </a:solidFill>
              </a:rPr>
              <a:t>  - Master's degree: +$13,970 vs Bachelor's (p &lt; 0.001)</a:t>
            </a:r>
          </a:p>
          <a:p>
            <a:r>
              <a:rPr sz="1300">
                <a:solidFill>
                  <a:srgbClr val="000000"/>
                </a:solidFill>
              </a:rPr>
              <a:t>  - PhD: +$23,140 vs Bachelor's (p &lt; 0.001)</a:t>
            </a:r>
          </a:p>
          <a:p/>
          <a:p>
            <a:r>
              <a:rPr sz="1300">
                <a:solidFill>
                  <a:srgbClr val="000000"/>
                </a:solidFill>
              </a:rPr>
              <a:t>Removed (not significant): is_junior (p=0.089), is_analyst (p=0.846), is_engineer (p=0.501)</a:t>
            </a:r>
          </a:p>
          <a:p/>
          <a:p>
            <a:r>
              <a:rPr sz="1300">
                <a:solidFill>
                  <a:srgbClr val="000000"/>
                </a:solidFill>
              </a:rPr>
              <a:t>Reduced Model: R-squared = 0.916, Adj. R-squared = 0.914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Interpretation and Next Steps</a:t>
            </a:r>
            <a:endParaRPr sz="6400"/>
          </a:p>
        </p:txBody>
      </p:sp>
      <p:sp>
        <p:nvSpPr>
          <p:cNvPr id="142" name="Google Shape;142;p18"/>
          <p:cNvSpPr txBox="1"/>
          <p:nvPr>
            <p:ph idx="1" type="body"/>
          </p:nvPr>
        </p:nvSpPr>
        <p:spPr>
          <a:xfrm>
            <a:off x="685850" y="1828800"/>
            <a:ext cx="16393800" cy="691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sz="1300">
                <a:solidFill>
                  <a:srgbClr val="000000"/>
                </a:solidFill>
              </a:rPr>
              <a:t>Variable 1: Years of Experience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/>
          </a:p>
          <a:p>
            <a:pPr indent="0" lvl="0" marL="228600" rtl="0" algn="l">
              <a:lnSpc>
                <a:spcPct val="115000"/>
              </a:lnSpc>
              <a:spcBef>
                <a:spcPts val="1400"/>
              </a:spcBef>
              <a:spcAft>
                <a:spcPts val="2000"/>
              </a:spcAft>
              <a:buNone/>
            </a:pPr>
            <a:endParaRPr sz="3000">
              <a:solidFill>
                <a:srgbClr val="000000"/>
              </a:solidFill>
            </a:endParaRPr>
          </a:p>
          <a:p>
            <a:r>
              <a:rPr sz="1300">
                <a:solidFill>
                  <a:srgbClr val="000000"/>
                </a:solidFill>
              </a:rPr>
              <a:t>  - Each additional year of experience increases salary by $5,081</a:t>
            </a:r>
          </a:p>
          <a:p>
            <a:r>
              <a:rPr sz="1300">
                <a:solidFill>
                  <a:srgbClr val="000000"/>
                </a:solidFill>
              </a:rPr>
              <a:t>  - 95% CI: ($4,737, $5,426)</a:t>
            </a:r>
          </a:p>
          <a:p>
            <a:r>
              <a:rPr sz="1300">
                <a:solidFill>
                  <a:srgbClr val="000000"/>
                </a:solidFill>
              </a:rPr>
              <a:t>  - We are 95% confident salary increases between $4,737 and $5,426 per additional year</a:t>
            </a:r>
          </a:p>
          <a:p/>
          <a:p>
            <a:r>
              <a:rPr sz="1300">
                <a:solidFill>
                  <a:srgbClr val="000000"/>
                </a:solidFill>
              </a:rPr>
              <a:t>Variable 2: Education Level (PhD vs Bachelor's)</a:t>
            </a:r>
          </a:p>
          <a:p>
            <a:r>
              <a:rPr sz="1300">
                <a:solidFill>
                  <a:srgbClr val="000000"/>
                </a:solidFill>
              </a:rPr>
              <a:t>  - A PhD holder earns $23,140 more than a Bachelor's holder</a:t>
            </a:r>
          </a:p>
          <a:p>
            <a:r>
              <a:rPr sz="1300">
                <a:solidFill>
                  <a:srgbClr val="000000"/>
                </a:solidFill>
              </a:rPr>
              <a:t>  - 95% CI: ($17,800, $28,500)</a:t>
            </a:r>
          </a:p>
          <a:p>
            <a:r>
              <a:rPr sz="1300">
                <a:solidFill>
                  <a:srgbClr val="000000"/>
                </a:solidFill>
              </a:rPr>
              <a:t>  - We are 95% confident the true difference is between $17,800 and $28,500</a:t>
            </a:r>
          </a:p>
          <a:p/>
          <a:p>
            <a:r>
              <a:rPr sz="1300">
                <a:solidFill>
                  <a:srgbClr val="000000"/>
                </a:solidFill>
              </a:rPr>
              <a:t>Next Steps:</a:t>
            </a:r>
          </a:p>
          <a:p>
            <a:r>
              <a:rPr sz="1300">
                <a:solidFill>
                  <a:srgbClr val="000000"/>
                </a:solidFill>
              </a:rPr>
              <a:t>  - Consider log-transforming salary to address right-skewed residuals</a:t>
            </a:r>
          </a:p>
          <a:p>
            <a:r>
              <a:rPr sz="1300">
                <a:solidFill>
                  <a:srgbClr val="000000"/>
                </a:solidFill>
              </a:rPr>
              <a:t>  - Investigate interaction effects (e.g., experience x education)</a:t>
            </a:r>
          </a:p>
          <a:p>
            <a:r>
              <a:rPr sz="1300">
                <a:solidFill>
                  <a:srgbClr val="000000"/>
                </a:solidFill>
              </a:rPr>
              <a:t>  - Address mild heteroscedasticity with robust standard errors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